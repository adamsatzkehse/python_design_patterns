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92" r:id="rId4"/>
    <p:sldId id="291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85" r:id="rId20"/>
    <p:sldId id="286" r:id="rId21"/>
    <p:sldId id="287" r:id="rId22"/>
    <p:sldId id="274" r:id="rId23"/>
    <p:sldId id="275" r:id="rId24"/>
    <p:sldId id="276" r:id="rId25"/>
    <p:sldId id="277" r:id="rId26"/>
    <p:sldId id="293" r:id="rId27"/>
    <p:sldId id="278" r:id="rId28"/>
    <p:sldId id="294" r:id="rId29"/>
    <p:sldId id="295" r:id="rId30"/>
    <p:sldId id="279" r:id="rId31"/>
    <p:sldId id="280" r:id="rId32"/>
    <p:sldId id="281" r:id="rId33"/>
    <p:sldId id="296" r:id="rId34"/>
    <p:sldId id="297" r:id="rId35"/>
    <p:sldId id="282" r:id="rId36"/>
    <p:sldId id="298" r:id="rId37"/>
    <p:sldId id="283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284" r:id="rId4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7897956-181F-490C-A71A-0E8096BB1B84}">
          <p14:sldIdLst>
            <p14:sldId id="256"/>
            <p14:sldId id="265"/>
            <p14:sldId id="292"/>
            <p14:sldId id="291"/>
          </p14:sldIdLst>
        </p14:section>
        <p14:section name="Inhalt" id="{B0A30983-8E44-4AD0-A470-3477000F5D80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Geschichte" id="{7194EA60-4944-41B2-B9A0-09D97CA8C773}">
          <p14:sldIdLst>
            <p14:sldId id="267"/>
            <p14:sldId id="266"/>
            <p14:sldId id="268"/>
            <p14:sldId id="269"/>
            <p14:sldId id="270"/>
            <p14:sldId id="271"/>
            <p14:sldId id="272"/>
          </p14:sldIdLst>
        </p14:section>
        <p14:section name="Kategorien von Design Patterns" id="{6B5F8A10-D66E-4A23-B945-B5590A04E4D3}">
          <p14:sldIdLst>
            <p14:sldId id="273"/>
            <p14:sldId id="285"/>
            <p14:sldId id="286"/>
            <p14:sldId id="287"/>
          </p14:sldIdLst>
        </p14:section>
        <p14:section name="Top Ten" id="{C45AB5A1-418D-496E-BBC0-33B1F9E0FDFB}">
          <p14:sldIdLst>
            <p14:sldId id="274"/>
            <p14:sldId id="275"/>
            <p14:sldId id="276"/>
            <p14:sldId id="277"/>
            <p14:sldId id="293"/>
            <p14:sldId id="278"/>
            <p14:sldId id="294"/>
            <p14:sldId id="295"/>
            <p14:sldId id="279"/>
            <p14:sldId id="280"/>
            <p14:sldId id="281"/>
            <p14:sldId id="296"/>
            <p14:sldId id="297"/>
            <p14:sldId id="282"/>
            <p14:sldId id="298"/>
            <p14:sldId id="283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7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B3A84-E086-478D-9160-3D6990EF7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71FFE5-128C-AA15-226B-CFF815257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55F9CC-496E-CEF7-54FD-FEA8D87A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2AAD62-411D-AE67-0BC9-24AB924B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1CA8C-F8A3-51B3-9AE1-084AC1EA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65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E8B37-DD39-6EBD-9DDE-C39071CA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4BCE2B-BA01-2851-2C79-77EEB51B9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E49FA-CD1F-098E-9A42-FF641702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484979-2C75-83D0-4D16-9FE45FCE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1E7579-636C-82B9-7DBA-BC5E2B3F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47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73007C-C327-51D3-47F0-4A016080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43884-2858-4239-FF71-E2D7E627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B4AFC8-07F4-5658-9773-FCAEA90C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C1CF1B-B748-CBE6-B5E0-3EBFDA10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01D53F-8DA8-0AA0-192A-F6915589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904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87917-7E5E-A1C4-06C6-156134FD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C4DD0D-DDDE-BED0-7B14-C394EF33B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09990E-E3A0-637C-AB4F-D180726EA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F55464-919B-1CCF-7FBA-7F513E17F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6A1884-AECB-6212-0AD9-8C930E6A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8A821C-9CAD-8C1C-A671-5A8DDFD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54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385D91-5D4E-3F5B-861D-7BF9705F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0661B0-29C3-D27B-E5C1-5124CB07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52E465-D5A0-9569-37C6-8404CF394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963F6C-E515-7237-AA91-C1E2F2717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F89E32-D99C-DF8A-B0CC-3E5E26299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3CFF73-11BC-039F-36D1-4CED0BD8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D49773-6C06-AB78-2BF9-1EB874DA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102A8EF-45EF-3325-FC51-51813ABE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83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3903A-1E62-A7FB-4347-8CC78F37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D9E57A-F546-2B37-B79D-C6DB572D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928D46-CB5D-F765-ABBB-BF20FE35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695758-2B33-C5E1-90C4-8581573D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04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0330D0-F603-E221-2D37-2F5D9F7B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6A46BBA-DCBF-C85F-1B24-002FE046C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F9301E-CD14-5E56-177F-D71A5439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51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0E827-1DEB-F83D-5E12-18731969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49D37-CA63-C941-F456-44C646DD2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1BA85-3AA2-AF7F-9A4B-B49BF9C9D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F56A7C-0E1F-C84F-BB29-EBF52C7B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3409C5-15B8-8C8B-041D-787A362B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477EE2-804D-05FC-4949-27FBAE31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85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5CB5B-0958-DFB6-10F9-4AD1AFCF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13DD08A-0D85-68F8-42AB-D4E3197B4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BF3837-CAA2-C340-62C3-6B48C4310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FB2B77-EBEF-16C1-E396-1E6295C8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FA4E05-E143-69EB-5A92-93318BFC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67AF7C-CA3D-65FE-8A36-7AC3B381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561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9FC94B-9411-FAAC-17A6-C036E4E8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5BF1BD-4572-6A64-0918-C02E82455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A1D4E8-9C02-DA68-D5EE-BDBB8174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EAB139-3962-349A-796A-3EA3A274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67105D-9569-BE2E-506D-39F563D7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03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AC8F2A-D1B2-F6FF-5A96-539EE356E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98D6ED3-2C47-AC6E-9156-03AA6E0FC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A20F39-C049-C910-8E50-7CDBD471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27515D-B53A-E842-1A7A-FE42F65B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8E7C8B-8B28-4368-ED66-BD49F5C3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38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6997B9-8299-0E20-59D4-90D741FD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2C7746-B852-09A7-C6B3-CC20CFD31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F8CEE8-9FA8-3E6D-2DCD-38E94059E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AC192-EEF0-4655-A5C2-10367E9D8034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51AE7-7BC8-F084-9490-94A8DAAB5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3BAF79-D205-D53A-F462-F169F65BB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71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8EE902-81EE-BE98-49D2-A0DB56523F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Design Patterns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457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CFC84C-B7AD-C065-6825-7116BDE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Trainer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D03510-F717-B2A1-E5A0-AAA859489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Adam Satzke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Elektrotechnik</a:t>
            </a:r>
            <a:r>
              <a:rPr lang="en-US" sz="2000" dirty="0">
                <a:solidFill>
                  <a:schemeClr val="bg1"/>
                </a:solidFill>
              </a:rPr>
              <a:t> Bachelor (2019)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HF-</a:t>
            </a:r>
            <a:r>
              <a:rPr lang="en-US" sz="2000" dirty="0" err="1">
                <a:solidFill>
                  <a:schemeClr val="bg1"/>
                </a:solidFill>
              </a:rPr>
              <a:t>Testingenieur</a:t>
            </a:r>
            <a:r>
              <a:rPr lang="en-US" sz="2000" dirty="0">
                <a:solidFill>
                  <a:schemeClr val="bg1"/>
                </a:solidFill>
              </a:rPr>
              <a:t> (2019-2023)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Trainer – Coach (</a:t>
            </a:r>
            <a:r>
              <a:rPr lang="en-US" sz="2000" dirty="0" err="1">
                <a:solidFill>
                  <a:schemeClr val="bg1"/>
                </a:solidFill>
              </a:rPr>
              <a:t>seit</a:t>
            </a:r>
            <a:r>
              <a:rPr lang="en-US" sz="2000" dirty="0">
                <a:solidFill>
                  <a:schemeClr val="bg1"/>
                </a:solidFill>
              </a:rPr>
              <a:t> 2023)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ldplatzhalter 5" descr="Ein Bild, das Im Haus, Person, Wand, Computer enthält.&#10;&#10;Automatisch generierte Beschreibung">
            <a:extLst>
              <a:ext uri="{FF2B5EF4-FFF2-40B4-BE49-F238E27FC236}">
                <a16:creationId xmlns:a16="http://schemas.microsoft.com/office/drawing/2014/main" id="{D16B0BEC-090C-5776-342C-5979DCB72E8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9" t="43344" r="5558" b="20390"/>
          <a:stretch/>
        </p:blipFill>
        <p:spPr>
          <a:xfrm>
            <a:off x="7345680" y="2235210"/>
            <a:ext cx="3139440" cy="274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1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BBAE02-D524-03E5-AD91-B5FDFFD1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Literatur</a:t>
            </a:r>
            <a:r>
              <a:rPr lang="en-US" dirty="0"/>
              <a:t> und </a:t>
            </a:r>
            <a:r>
              <a:rPr lang="en-US" dirty="0" err="1"/>
              <a:t>Quellen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1A010-D642-EBD4-6DC7-2CDAA774A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“Mastering Python Design Patterns” – </a:t>
            </a:r>
            <a:r>
              <a:rPr lang="en-US" dirty="0" err="1"/>
              <a:t>Kamon</a:t>
            </a:r>
            <a:r>
              <a:rPr lang="en-US" dirty="0"/>
              <a:t> </a:t>
            </a:r>
            <a:r>
              <a:rPr lang="en-US" dirty="0" err="1"/>
              <a:t>Ayeva</a:t>
            </a:r>
            <a:r>
              <a:rPr lang="en-US" dirty="0"/>
              <a:t>, Sakis </a:t>
            </a:r>
            <a:r>
              <a:rPr lang="en-US" dirty="0" err="1"/>
              <a:t>Kasampalis</a:t>
            </a:r>
            <a:endParaRPr lang="en-US" dirty="0"/>
          </a:p>
          <a:p>
            <a:r>
              <a:rPr lang="en-US" dirty="0"/>
              <a:t>Python </a:t>
            </a:r>
            <a:r>
              <a:rPr lang="en-US" dirty="0" err="1"/>
              <a:t>Handbuch</a:t>
            </a:r>
            <a:endParaRPr lang="en-US" dirty="0"/>
          </a:p>
          <a:p>
            <a:r>
              <a:rPr lang="en-US" dirty="0"/>
              <a:t>Diverse </a:t>
            </a:r>
            <a:r>
              <a:rPr lang="en-US" dirty="0" err="1"/>
              <a:t>Internetquellen</a:t>
            </a:r>
            <a:endParaRPr lang="en-US" dirty="0"/>
          </a:p>
          <a:p>
            <a:endParaRPr lang="en-US" dirty="0"/>
          </a:p>
          <a:p>
            <a:endParaRPr lang="de-DE" dirty="0"/>
          </a:p>
        </p:txBody>
      </p:sp>
      <p:pic>
        <p:nvPicPr>
          <p:cNvPr id="5" name="Grafik 4" descr="Ein Bild, das Text, Grafikdesign, Screenshot, Farbigkeit enthält.&#10;&#10;Automatisch generierte Beschreibung">
            <a:extLst>
              <a:ext uri="{FF2B5EF4-FFF2-40B4-BE49-F238E27FC236}">
                <a16:creationId xmlns:a16="http://schemas.microsoft.com/office/drawing/2014/main" id="{6FEDA03F-3725-6749-081A-7877D6A93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050" y="2644775"/>
            <a:ext cx="29718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4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BBAE02-D524-03E5-AD91-B5FDFFD1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Kursorganisation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1A010-D642-EBD4-6DC7-2CDAA774A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 – 17 </a:t>
            </a:r>
            <a:r>
              <a:rPr lang="en-US" dirty="0" err="1"/>
              <a:t>Uhr</a:t>
            </a:r>
            <a:endParaRPr lang="en-US" dirty="0"/>
          </a:p>
          <a:p>
            <a:r>
              <a:rPr lang="en-US" dirty="0" err="1"/>
              <a:t>Vormittagspause</a:t>
            </a:r>
            <a:r>
              <a:rPr lang="en-US" dirty="0"/>
              <a:t>: 10:30</a:t>
            </a:r>
          </a:p>
          <a:p>
            <a:r>
              <a:rPr lang="en-US" dirty="0" err="1"/>
              <a:t>Mittagspause</a:t>
            </a:r>
            <a:r>
              <a:rPr lang="en-US" dirty="0"/>
              <a:t>: 12:00</a:t>
            </a:r>
          </a:p>
          <a:p>
            <a:r>
              <a:rPr lang="en-US" dirty="0" err="1"/>
              <a:t>Nachmittagspause</a:t>
            </a:r>
            <a:r>
              <a:rPr lang="en-US" dirty="0"/>
              <a:t>: 14:30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813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Kursinhalt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Einführung in Design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Bedeutung und Geschichte von Design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Kategorien von Design Patterns: Entwurfsmuster, Strukturmuster, Verhaltensmuster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Prinzipien von objektorientiertem Design (SOLID)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3115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Kursinhalt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Objektorientiertes Programmieren in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Klassen und Objekte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Spezielle Methoden (Magische Methoden)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Klassenattribute und Klassenmethoden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Vererbung und Reihenfolge der Methodenauflösung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Duck-Typing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327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Kursinhalt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Entwurfsmuster (</a:t>
            </a:r>
            <a:r>
              <a:rPr lang="de-DE" b="1" dirty="0" err="1"/>
              <a:t>Creational</a:t>
            </a:r>
            <a:r>
              <a:rPr lang="de-DE" b="1" dirty="0"/>
              <a:t> Patterns)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Singleton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Factory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Abstract Factory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Builder</a:t>
            </a:r>
            <a:r>
              <a:rPr lang="de-DE" dirty="0"/>
              <a:t>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Prototype Pattern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8425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Kursinhalt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Strukturmuster (</a:t>
            </a:r>
            <a:r>
              <a:rPr lang="de-DE" b="1" dirty="0" err="1"/>
              <a:t>Structural</a:t>
            </a:r>
            <a:r>
              <a:rPr lang="de-DE" b="1" dirty="0"/>
              <a:t> Patterns)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Adapter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Composite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Decorator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Facade</a:t>
            </a:r>
            <a:r>
              <a:rPr lang="de-DE" dirty="0"/>
              <a:t>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Flyweight</a:t>
            </a:r>
            <a:r>
              <a:rPr lang="de-DE" dirty="0"/>
              <a:t>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Proxy Pattern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290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Kursinhalt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/>
              <a:t>Verhaltensmuster (Behavioral Patterns)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Chain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Responsability</a:t>
            </a:r>
            <a:r>
              <a:rPr lang="de-DE" dirty="0"/>
              <a:t>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Command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Interpreter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Iterator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Mediator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Memento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Observer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State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Strategy</a:t>
            </a:r>
            <a:r>
              <a:rPr lang="de-DE" dirty="0"/>
              <a:t>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Template Method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Visitor Pattern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5857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Kursinhalt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Anwendung von Design Patterns in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Umsetzung der Design Patterns in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Vor- und Nachteile der einzelnen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Best Practices und häufige Fallstricke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997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E848F-D390-41C4-7ABC-00198BDEF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Geschichte von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3529871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Geschichte</a:t>
            </a:r>
            <a:r>
              <a:rPr lang="en-US" dirty="0"/>
              <a:t> von Design Patterns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C63E12-7B77-08D0-E8A1-76D3743F98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6083"/>
            <a:ext cx="1066292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Ursprung in der Architektur (1970er Jahre)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de-DE" altLang="de-D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 Idee von „Design Patterns“ stammt ursprünglich vom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Architekten Christopher Alexander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1977 veröffentlichte er das Buch</a:t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Pattern Language: Towns, Buildings, Construction”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Darin beschreibt er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wiederkehrende Lösungen für häufige Probleme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der Architektur – etwa: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de-DE" altLang="de-DE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„Wenn Menschen sich in einer Stadt wohlfühlen sollen, gestalte Plätze so, dass sie von Gebäuden eingerahmt sind.“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784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F29CA-9E46-E139-1CF3-9CEA56DF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Geschichte von Design Patterns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21C5-5A7C-49A7-ED78-213A48D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Alexander nannte diese Lösungen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</a:t>
            </a: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also „Muster“.</a:t>
            </a:r>
            <a:b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 sind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 konkrete Baupläne</a:t>
            </a: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sondern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abstrahierte Konzepte</a:t>
            </a: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die sich in vielen Situationen anwenden lassen.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72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F29CA-9E46-E139-1CF3-9CEA56DF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Geschichte von Design Patterns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21C5-5A7C-49A7-ED78-213A48D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Übertragung auf die Softwareentwicklung (1980er–1990er)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 den 1980ern begannen Softwareentwickler, Alexanders Ideen auf die </a:t>
            </a:r>
            <a:r>
              <a:rPr lang="de-DE" b="1" dirty="0"/>
              <a:t>Softwarearchitektur</a:t>
            </a:r>
            <a:r>
              <a:rPr lang="de-DE" dirty="0"/>
              <a:t> zu übertragen.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Die zentrale Idee:</a:t>
            </a:r>
            <a:br>
              <a:rPr lang="de-DE" dirty="0"/>
            </a:br>
            <a:r>
              <a:rPr lang="de-DE" dirty="0"/>
              <a:t>Auch in der Software tauchen </a:t>
            </a:r>
            <a:r>
              <a:rPr lang="de-DE" b="1" dirty="0"/>
              <a:t>wiederkehrende Probleme</a:t>
            </a:r>
            <a:r>
              <a:rPr lang="de-DE" dirty="0"/>
              <a:t> auf – z. B. wie man Objekte erstellt, wie man Daten kapselt oder wie man flexible Strukturen entwirft.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Kent Beck</a:t>
            </a:r>
            <a:r>
              <a:rPr lang="de-DE" dirty="0"/>
              <a:t>, </a:t>
            </a:r>
            <a:r>
              <a:rPr lang="de-DE" b="1" dirty="0"/>
              <a:t>Ward Cunningham</a:t>
            </a:r>
            <a:r>
              <a:rPr lang="de-DE" dirty="0"/>
              <a:t> und andere experimentierten zuerst mit dieser Idee in der </a:t>
            </a:r>
            <a:r>
              <a:rPr lang="de-DE" b="1" dirty="0"/>
              <a:t>Smalltalk-Community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6846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F29CA-9E46-E139-1CF3-9CEA56DF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Geschichte von Design Patterns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21C5-5A7C-49A7-ED78-213A48D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 dirty="0"/>
              <a:t>Übertragung auf die Softwareentwicklung (1980er–1990er)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 den 1980ern begannen Softwareentwickler, Alexanders Ideen auf die </a:t>
            </a:r>
            <a:r>
              <a:rPr lang="de-DE" b="1" dirty="0"/>
              <a:t>Softwarearchitektur</a:t>
            </a:r>
            <a:r>
              <a:rPr lang="de-DE" dirty="0"/>
              <a:t> zu übertragen.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Die zentrale Idee:</a:t>
            </a:r>
          </a:p>
          <a:p>
            <a:pPr>
              <a:buFont typeface="Arial" panose="020B0604020202020204" pitchFamily="34" charset="0"/>
              <a:buChar char="•"/>
            </a:pPr>
            <a:br>
              <a:rPr lang="de-DE" dirty="0"/>
            </a:br>
            <a:r>
              <a:rPr lang="de-DE" dirty="0"/>
              <a:t>Auch in der Software tauchen </a:t>
            </a:r>
            <a:r>
              <a:rPr lang="de-DE" b="1" dirty="0"/>
              <a:t>wiederkehrende Probleme</a:t>
            </a:r>
            <a:r>
              <a:rPr lang="de-DE" dirty="0"/>
              <a:t> auf – z. B. wie man Objekte erstellt, wie man Daten kapselt oder wie man flexible Strukturen entwirft.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Kent Beck</a:t>
            </a:r>
            <a:r>
              <a:rPr lang="de-DE" dirty="0"/>
              <a:t>, </a:t>
            </a:r>
            <a:r>
              <a:rPr lang="de-DE" b="1" dirty="0"/>
              <a:t>Ward Cunningham</a:t>
            </a:r>
            <a:r>
              <a:rPr lang="de-DE" dirty="0"/>
              <a:t> und andere experimentierten zuerst mit dieser Idee in der </a:t>
            </a:r>
            <a:r>
              <a:rPr lang="de-DE" b="1" dirty="0"/>
              <a:t>Smalltalk-Community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9436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F29CA-9E46-E139-1CF3-9CEA56DF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Geschichte von Design Patterns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21C5-5A7C-49A7-ED78-213A48D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Das berühmte „Gang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Four</a:t>
            </a:r>
            <a:r>
              <a:rPr lang="de-DE" b="1" dirty="0"/>
              <a:t>“-Buch (1994)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Der Durchbruch kam 1994 mit dem Buch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i="1" dirty="0"/>
              <a:t>“Design Patterns: Elements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Reusable</a:t>
            </a:r>
            <a:r>
              <a:rPr lang="de-DE" i="1" dirty="0"/>
              <a:t> </a:t>
            </a:r>
            <a:r>
              <a:rPr lang="de-DE" i="1" dirty="0" err="1"/>
              <a:t>Object-Oriented</a:t>
            </a:r>
            <a:r>
              <a:rPr lang="de-DE" i="1" dirty="0"/>
              <a:t> Software”</a:t>
            </a:r>
            <a:br>
              <a:rPr lang="de-DE" dirty="0"/>
            </a:br>
            <a:r>
              <a:rPr lang="de-DE" dirty="0"/>
              <a:t>von </a:t>
            </a:r>
            <a:r>
              <a:rPr lang="de-DE" b="1" dirty="0"/>
              <a:t>Erich Gamma</a:t>
            </a:r>
            <a:r>
              <a:rPr lang="de-DE" dirty="0"/>
              <a:t>, </a:t>
            </a:r>
            <a:r>
              <a:rPr lang="de-DE" b="1" dirty="0"/>
              <a:t>Richard Helm</a:t>
            </a:r>
            <a:r>
              <a:rPr lang="de-DE" dirty="0"/>
              <a:t>, </a:t>
            </a:r>
            <a:r>
              <a:rPr lang="de-DE" b="1" dirty="0"/>
              <a:t>Ralph Johnson</a:t>
            </a:r>
            <a:r>
              <a:rPr lang="de-DE" dirty="0"/>
              <a:t> und </a:t>
            </a:r>
            <a:r>
              <a:rPr lang="de-DE" b="1" dirty="0"/>
              <a:t>John </a:t>
            </a:r>
            <a:r>
              <a:rPr lang="de-DE" b="1" dirty="0" err="1"/>
              <a:t>Vlissides</a:t>
            </a:r>
            <a:br>
              <a:rPr lang="de-DE" dirty="0"/>
            </a:br>
            <a:r>
              <a:rPr lang="de-DE" dirty="0"/>
              <a:t>– kurz bekannt als die </a:t>
            </a:r>
            <a:r>
              <a:rPr lang="de-DE" b="1" dirty="0"/>
              <a:t>Gang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Four</a:t>
            </a:r>
            <a:r>
              <a:rPr lang="de-DE" b="1" dirty="0"/>
              <a:t> (</a:t>
            </a:r>
            <a:r>
              <a:rPr lang="de-DE" b="1" dirty="0" err="1"/>
              <a:t>GoF</a:t>
            </a:r>
            <a:r>
              <a:rPr lang="de-DE" b="1" dirty="0"/>
              <a:t>)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5414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F29CA-9E46-E139-1CF3-9CEA56DF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Geschichte von Design Patterns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21C5-5A7C-49A7-ED78-213A48D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Ein Design Pattern ist also: Eine bewährte Lösung für ein wiederkehrendes Problem im bestimmten Kontext.</a:t>
            </a:r>
          </a:p>
          <a:p>
            <a:endParaRPr lang="de-DE" dirty="0"/>
          </a:p>
          <a:p>
            <a:r>
              <a:rPr lang="de-DE" dirty="0"/>
              <a:t>Sie helfen Software</a:t>
            </a:r>
          </a:p>
          <a:p>
            <a:pPr lvl="1"/>
            <a:r>
              <a:rPr lang="de-DE" dirty="0"/>
              <a:t>Verständlicher</a:t>
            </a:r>
          </a:p>
          <a:p>
            <a:pPr lvl="1"/>
            <a:r>
              <a:rPr lang="de-DE" dirty="0"/>
              <a:t>Wartbarer</a:t>
            </a:r>
          </a:p>
          <a:p>
            <a:pPr lvl="1"/>
            <a:r>
              <a:rPr lang="de-DE" dirty="0"/>
              <a:t>Wiederverwendbarer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r>
              <a:rPr lang="de-DE" dirty="0"/>
              <a:t>Zu machen.</a:t>
            </a:r>
          </a:p>
        </p:txBody>
      </p:sp>
    </p:spTree>
    <p:extLst>
      <p:ext uri="{BB962C8B-B14F-4D97-AF65-F5344CB8AC3E}">
        <p14:creationId xmlns:p14="http://schemas.microsoft.com/office/powerpoint/2010/main" val="1219036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F29CA-9E46-E139-1CF3-9CEA56DF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Kategorien von Design Patterns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21C5-5A7C-49A7-ED78-213A48D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Entwurfsmuster (</a:t>
            </a:r>
            <a:r>
              <a:rPr lang="de-DE" dirty="0" err="1"/>
              <a:t>Creational</a:t>
            </a:r>
            <a:r>
              <a:rPr lang="de-DE" dirty="0"/>
              <a:t> Patterns)</a:t>
            </a:r>
          </a:p>
          <a:p>
            <a:endParaRPr lang="de-DE" dirty="0"/>
          </a:p>
          <a:p>
            <a:r>
              <a:rPr lang="de-DE" dirty="0"/>
              <a:t>Strukturmuster (</a:t>
            </a:r>
            <a:r>
              <a:rPr lang="de-DE" dirty="0" err="1"/>
              <a:t>Structural</a:t>
            </a:r>
            <a:r>
              <a:rPr lang="de-DE" dirty="0"/>
              <a:t> Patterns)</a:t>
            </a:r>
          </a:p>
          <a:p>
            <a:endParaRPr lang="de-DE" dirty="0"/>
          </a:p>
          <a:p>
            <a:r>
              <a:rPr lang="de-DE" dirty="0"/>
              <a:t>Verhaltensmuster (Behavioral Patterns)</a:t>
            </a:r>
          </a:p>
        </p:txBody>
      </p:sp>
    </p:spTree>
    <p:extLst>
      <p:ext uri="{BB962C8B-B14F-4D97-AF65-F5344CB8AC3E}">
        <p14:creationId xmlns:p14="http://schemas.microsoft.com/office/powerpoint/2010/main" val="4275180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2B4676-B3E1-B631-79FC-C183288E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Creational Patterns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1AED6A-B8CD-186B-483F-5E221729F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Handeln</a:t>
            </a:r>
            <a:r>
              <a:rPr lang="en-US" dirty="0"/>
              <a:t> die </a:t>
            </a:r>
            <a:r>
              <a:rPr lang="en-US" dirty="0" err="1"/>
              <a:t>Objekterstellung</a:t>
            </a:r>
            <a:endParaRPr lang="en-US" dirty="0"/>
          </a:p>
          <a:p>
            <a:r>
              <a:rPr lang="en-US" dirty="0" err="1"/>
              <a:t>Objekterstellung</a:t>
            </a:r>
            <a:r>
              <a:rPr lang="en-US" dirty="0"/>
              <a:t>: </a:t>
            </a:r>
            <a:r>
              <a:rPr lang="en-US" dirty="0" err="1"/>
              <a:t>Explizit</a:t>
            </a:r>
            <a:r>
              <a:rPr lang="en-US" dirty="0"/>
              <a:t> (Constructor)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Implizit</a:t>
            </a:r>
            <a:r>
              <a:rPr lang="en-US" dirty="0"/>
              <a:t> (Dependency Injection, Reflection)</a:t>
            </a:r>
          </a:p>
          <a:p>
            <a:r>
              <a:rPr lang="en-US" dirty="0"/>
              <a:t>Wholesale (single statement) </a:t>
            </a:r>
            <a:r>
              <a:rPr lang="en-US" dirty="0" err="1"/>
              <a:t>oder</a:t>
            </a:r>
            <a:r>
              <a:rPr lang="en-US" dirty="0"/>
              <a:t> piecewise (</a:t>
            </a:r>
            <a:r>
              <a:rPr lang="en-US" dirty="0" err="1"/>
              <a:t>schrittweise</a:t>
            </a:r>
            <a:r>
              <a:rPr lang="en-US" dirty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0352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682CD-94F5-CF74-11C8-3012D829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Patterns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83636B-333B-4194-0E69-7D31714CC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Befasst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der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Programms</a:t>
            </a:r>
            <a:endParaRPr lang="en-US" dirty="0"/>
          </a:p>
          <a:p>
            <a:r>
              <a:rPr lang="en-US" dirty="0"/>
              <a:t>Klassen, Interfaces, Design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149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13005-5B31-A76D-D824-5B59A2E59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Patterns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B09815-544E-95D5-EAAA-A45A3299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Bieten</a:t>
            </a:r>
            <a:r>
              <a:rPr lang="en-US" dirty="0"/>
              <a:t> </a:t>
            </a:r>
            <a:r>
              <a:rPr lang="en-US" dirty="0" err="1"/>
              <a:t>Lösungen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konkreten</a:t>
            </a:r>
            <a:r>
              <a:rPr lang="en-US" dirty="0"/>
              <a:t> </a:t>
            </a:r>
            <a:r>
              <a:rPr lang="en-US" dirty="0" err="1"/>
              <a:t>Fällen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OOP - Approach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9227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53F38-528A-E82E-911D-902CA7F6E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255"/>
            <a:ext cx="10515600" cy="1325563"/>
          </a:xfrm>
        </p:spPr>
        <p:txBody>
          <a:bodyPr/>
          <a:lstStyle/>
          <a:p>
            <a:r>
              <a:rPr lang="de-DE" dirty="0"/>
              <a:t>Top 10 Design Patterns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A1F96F37-1F2C-85EF-BE4E-E6020DC62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045897"/>
              </p:ext>
            </p:extLst>
          </p:nvPr>
        </p:nvGraphicFramePr>
        <p:xfrm>
          <a:off x="838200" y="1135380"/>
          <a:ext cx="10515600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314248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40761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13335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89027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Design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Kategorie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Anwendung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60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Singleton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Creational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Configs, logging, connection pools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02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Factory / Abstract Factory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Creational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Framework object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3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Observer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Behavioral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Events, GUIs, reactive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50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Behavioral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Pluggable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928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Decorator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Structural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Wrapping logic (middleware, I/O)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3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Adapter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Structural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API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756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Proxy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Structural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Caching, remoting, access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776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Builder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Creational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Fluent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34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Behavioral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Undo/Redo, job queues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MVC / MVVM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Architectural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UI </a:t>
                      </a:r>
                      <a:r>
                        <a:rPr lang="de-DE" dirty="0" err="1"/>
                        <a:t>frameworks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26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916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549978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Creational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Vergewissern, dass nur eine Instanz der gewünschten Klasse existiert.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Logging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systems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configuration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managers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database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connection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pools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etc.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983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/ Abstract Factory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719993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Creational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Kapselt die Objekterzeugung, um Abhängigkeiten zu reduzieren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Frameworks oder Bibliotheken, die Objekte erzeugen, ohne deren konkrete Klassen zu kennen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15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Builder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425220"/>
              </p:ext>
            </p:extLst>
          </p:nvPr>
        </p:nvGraphicFramePr>
        <p:xfrm>
          <a:off x="1544320" y="2315975"/>
          <a:ext cx="81280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Creational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Baut komplexe Objekte Schritt für Schritt auf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Fluent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APIs, flexible Objektkonstruktion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920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002306"/>
              </p:ext>
            </p:extLst>
          </p:nvPr>
        </p:nvGraphicFramePr>
        <p:xfrm>
          <a:off x="1544320" y="2315975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Creational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Neue Objekte durch Kopieren vorhandener Prototypen erstellen.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Prototypen erstellen.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185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767380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Mehrere Objekte automatisch benachrichtigen, wenn sich der Zustand eines Objektes ändert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GUI-Events, Nachrichtensysteme, reaktive Programmierung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009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041729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Structural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Abstraktion von Implementierung entkoppeln, sodass beide unabhängig variieren können.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Rendering-API (OpenGL/DirectX), Geräte-/Treibertrennung, plattformunabhängige UI-Komponenten.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289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059852"/>
              </p:ext>
            </p:extLst>
          </p:nvPr>
        </p:nvGraphicFramePr>
        <p:xfrm>
          <a:off x="1544320" y="2315975"/>
          <a:ext cx="81280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Structural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Teil-Ganzes-Hierarchien einheitlich behandeln, Einzelnes und Komposites gleich bedienen.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Dateisysteme, GUI-Container/Widgets, Szenengraphen, Organisationsstrukturen.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011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963681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Eine Familie von Algorithmen definieren und austauschbar machen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Sortieralgorithmen, Zahlungsverfahren, KI-Verhalten in Spielen. Ersetzt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if-else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Ketten durch sauberen, erweiterbaren Code.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932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62520"/>
              </p:ext>
            </p:extLst>
          </p:nvPr>
        </p:nvGraphicFramePr>
        <p:xfrm>
          <a:off x="1544320" y="2315975"/>
          <a:ext cx="81280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Structural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Macht inkompatible Schnittstellen kompatible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Integration von Legacy Code oder externen APIs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466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880794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Structural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Fügt Objekte dynamisch neue Funktionen hinzu, ohne deren Klasse zu verändern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Middleware, I/O Streams, UI-Komponenten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45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Facade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685640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Structural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Vereinfachte, einheitliche Schnittstelle zu einem komplexen Subsystem bereitstellen.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Medien-/Grafik-Subsysteme, Payment-Gateways, Microservice-Aggregatoren.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1389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Flyweight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89481"/>
              </p:ext>
            </p:extLst>
          </p:nvPr>
        </p:nvGraphicFramePr>
        <p:xfrm>
          <a:off x="1544320" y="2315975"/>
          <a:ext cx="81280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Structural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Gemeinsame, unveränderliche Zustände teilen, um Speicher/Objektzahl zu reduzieren.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Text-Glyphen, Karten-</a:t>
                      </a:r>
                      <a:r>
                        <a:rPr lang="de-DE" dirty="0" err="1"/>
                        <a:t>Tiles</a:t>
                      </a:r>
                      <a:r>
                        <a:rPr lang="de-DE" dirty="0"/>
                        <a:t>, Partikelsysteme, Caching von Metadaten.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714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06647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Structural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Kontrolliert den Zugriff auf ein anderes Objekt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Remote-Aufrufe,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Lazy-Loading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Zugriffschutz – Caching,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Logging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, Sicherheitsprüfung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071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</a:t>
            </a:r>
            <a:r>
              <a:rPr lang="en-US" dirty="0" err="1"/>
              <a:t>Responsability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650951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Anfrage durch Kette von Handlern leiten, bis einer sie verarbeitet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Event-/</a:t>
                      </a:r>
                      <a:r>
                        <a:rPr lang="de-DE" dirty="0" err="1"/>
                        <a:t>Logging</a:t>
                      </a:r>
                      <a:r>
                        <a:rPr lang="de-DE" dirty="0"/>
                        <a:t>-Pipelines, UI-Ereignisverarbeitung, Middleware-Stacks.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222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EC94E7-F44B-44C9-A56B-0D7B090AE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4200" y="454202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341226"/>
              </p:ext>
            </p:extLst>
          </p:nvPr>
        </p:nvGraphicFramePr>
        <p:xfrm>
          <a:off x="1544320" y="2315975"/>
          <a:ext cx="812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Verpackt eine Aktion oder Anfrage als Objekt, um z.B.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Undo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Redo</a:t>
                      </a: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oder Warteschlangen zu ermöglichen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GUI-Schaltflächen, Job-Queues, Editoren.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854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Interpreter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773489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Grammatik für einfache Sprachen definieren und Ausdrücke interpretieren.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Regel-</a:t>
                      </a:r>
                      <a:r>
                        <a:rPr lang="de-DE" dirty="0" err="1"/>
                        <a:t>Engines</a:t>
                      </a:r>
                      <a:r>
                        <a:rPr lang="de-DE" dirty="0"/>
                        <a:t>, Konfigurations-/Query-Minisprachen, Ausdrucksauswertung.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342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154666"/>
              </p:ext>
            </p:extLst>
          </p:nvPr>
        </p:nvGraphicFramePr>
        <p:xfrm>
          <a:off x="1544320" y="2315975"/>
          <a:ext cx="81280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Sequenzielles Durchlaufen von Sammlungen ohne interne Darstellung offenzulegen.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Container-APIs, Streaming von Datensätzen, Traversieren von Bäumen / Graphen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134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Mediator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877112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Kapselt die Kommunikation zwischen vielen Objekten. Reduziert Kopplung.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Dialog-/Form-Koordination, Chat-/Message-Hubs, Modul-Orchestrierung.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428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Memento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249205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Internen Zustand eines Objekts erfassen / wiederherstellen, ohne Kapselung zu verletzen.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Undo</a:t>
                      </a:r>
                      <a:r>
                        <a:rPr lang="de-DE" dirty="0"/>
                        <a:t> / </a:t>
                      </a:r>
                      <a:r>
                        <a:rPr lang="de-DE" dirty="0" err="1"/>
                        <a:t>Redo</a:t>
                      </a:r>
                      <a:r>
                        <a:rPr lang="de-DE" dirty="0"/>
                        <a:t>, Snapshots, Spielstände, Wiederherstellungspunkte.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849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755645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Eins-zu-Viele-Abhängigkeit: Subjekte benachrichtigen Beobachter bei Zustandsänderung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Undo</a:t>
                      </a:r>
                      <a:r>
                        <a:rPr lang="de-DE" dirty="0"/>
                        <a:t> / </a:t>
                      </a:r>
                      <a:r>
                        <a:rPr lang="de-DE" dirty="0" err="1"/>
                        <a:t>Redo</a:t>
                      </a:r>
                      <a:r>
                        <a:rPr lang="de-DE" dirty="0"/>
                        <a:t>, Snapshots, Spielstände, Wiederherstellungspunkte.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716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19350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Objektverhlaten</a:t>
                      </a:r>
                      <a:r>
                        <a:rPr lang="de-DE" dirty="0"/>
                        <a:t> abhängig vom internen Zustand kapseln und zur Laufzeit wechseln.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Automaten, Medienplayer, Workflow-</a:t>
                      </a:r>
                      <a:r>
                        <a:rPr lang="de-DE" dirty="0" err="1"/>
                        <a:t>Engines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739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718740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Austauschbare Algorithmen kapseln und zur Laufzeit wählen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Sortier-/Kompressions-/Krypto-Algorithmen, Preis-/Routing-Logik, Feature-</a:t>
                      </a:r>
                      <a:r>
                        <a:rPr lang="de-DE" dirty="0" err="1"/>
                        <a:t>Policies</a:t>
                      </a:r>
                      <a:r>
                        <a:rPr lang="de-DE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10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39575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Skellet</a:t>
                      </a:r>
                      <a:r>
                        <a:rPr lang="de-DE" dirty="0"/>
                        <a:t> eines Algorithmus in der Basisklasse definieren, Schritte in Subklassen überschreiben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Datei-</a:t>
                      </a:r>
                      <a:r>
                        <a:rPr lang="de-DE" dirty="0" err="1"/>
                        <a:t>Importer</a:t>
                      </a:r>
                      <a:r>
                        <a:rPr lang="de-DE" dirty="0"/>
                        <a:t>, Workflows, Rendering-Pipelines, Test-Runner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680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775971"/>
              </p:ext>
            </p:extLst>
          </p:nvPr>
        </p:nvGraphicFramePr>
        <p:xfrm>
          <a:off x="1544320" y="2315975"/>
          <a:ext cx="812800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Behavioral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Neue Operationen über Objektstrukturen definieren, ohne deren Klassen zu ändern.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AST-Verarbeitung/Compiler-Passes, Serialisierung, Regeln/Validierung über heterogene Strukturen.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1858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9E8B1-4F9A-6EC7-10F4-76744FF4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/ MVVM</a:t>
            </a: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AAB0ABD-73D9-C802-D521-D2111BE5C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483350"/>
              </p:ext>
            </p:extLst>
          </p:nvPr>
        </p:nvGraphicFramePr>
        <p:xfrm>
          <a:off x="1544320" y="2315975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44446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82664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9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Kategorie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Architecture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2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Zweck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Trennt Daten, Benutzeroberfläche und Logik </a:t>
                      </a:r>
                      <a:r>
                        <a:rPr kumimoji="0" lang="de-DE" alt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voneinenander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6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de-DE" sz="1800" b="1" dirty="0">
                          <a:latin typeface="Arial" panose="020B0604020202020204" pitchFamily="34" charset="0"/>
                        </a:rPr>
                        <a:t>Einsatz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Web-Frameworks, Frontend.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15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1320</Words>
  <Application>Microsoft Office PowerPoint</Application>
  <PresentationFormat>Breitbild</PresentationFormat>
  <Paragraphs>333</Paragraphs>
  <Slides>47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Office</vt:lpstr>
      <vt:lpstr>Python Design Patterns</vt:lpstr>
      <vt:lpstr>Trainer</vt:lpstr>
      <vt:lpstr>Literatur und Quellen</vt:lpstr>
      <vt:lpstr>Kursorganisation</vt:lpstr>
      <vt:lpstr>Kursinhalt</vt:lpstr>
      <vt:lpstr>Kursinhalt</vt:lpstr>
      <vt:lpstr>Kursinhalt</vt:lpstr>
      <vt:lpstr>Kursinhalt</vt:lpstr>
      <vt:lpstr>Kursinhalt</vt:lpstr>
      <vt:lpstr>Kursinhalt</vt:lpstr>
      <vt:lpstr>Geschichte von Design Patterns</vt:lpstr>
      <vt:lpstr>Geschichte von Design Patterns</vt:lpstr>
      <vt:lpstr>Geschichte von Design Patterns</vt:lpstr>
      <vt:lpstr>Geschichte von Design Patterns</vt:lpstr>
      <vt:lpstr>Geschichte von Design Patterns</vt:lpstr>
      <vt:lpstr>Geschichte von Design Patterns</vt:lpstr>
      <vt:lpstr>Geschichte von Design Patterns</vt:lpstr>
      <vt:lpstr>Kategorien von Design Patterns</vt:lpstr>
      <vt:lpstr>Creational Patterns</vt:lpstr>
      <vt:lpstr>Structural Patterns</vt:lpstr>
      <vt:lpstr>Behavioral Patterns</vt:lpstr>
      <vt:lpstr>Top 10 Design Patterns</vt:lpstr>
      <vt:lpstr>Singleton</vt:lpstr>
      <vt:lpstr>Factory / Abstract Factory</vt:lpstr>
      <vt:lpstr>Builder</vt:lpstr>
      <vt:lpstr>Prototype</vt:lpstr>
      <vt:lpstr>Observer </vt:lpstr>
      <vt:lpstr>Bridge </vt:lpstr>
      <vt:lpstr>Composite </vt:lpstr>
      <vt:lpstr>Strategy</vt:lpstr>
      <vt:lpstr>Adapter</vt:lpstr>
      <vt:lpstr>Decorator</vt:lpstr>
      <vt:lpstr>Facade</vt:lpstr>
      <vt:lpstr>Flyweight</vt:lpstr>
      <vt:lpstr>Proxy</vt:lpstr>
      <vt:lpstr>Chain of Responsability</vt:lpstr>
      <vt:lpstr>Command</vt:lpstr>
      <vt:lpstr>Interpreter</vt:lpstr>
      <vt:lpstr>Iterator</vt:lpstr>
      <vt:lpstr>Mediator</vt:lpstr>
      <vt:lpstr>Memento</vt:lpstr>
      <vt:lpstr>Observer</vt:lpstr>
      <vt:lpstr>State</vt:lpstr>
      <vt:lpstr>Strategy</vt:lpstr>
      <vt:lpstr>Template</vt:lpstr>
      <vt:lpstr>Visitor</vt:lpstr>
      <vt:lpstr>MVC / MVVM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Satzke</dc:creator>
  <cp:lastModifiedBy>Adam Satzke</cp:lastModifiedBy>
  <cp:revision>30</cp:revision>
  <dcterms:created xsi:type="dcterms:W3CDTF">2025-10-17T08:05:54Z</dcterms:created>
  <dcterms:modified xsi:type="dcterms:W3CDTF">2025-11-10T07:30:00Z</dcterms:modified>
</cp:coreProperties>
</file>